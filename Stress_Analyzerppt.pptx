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62" r:id="rId5"/>
    <p:sldId id="257" r:id="rId6"/>
    <p:sldId id="258" r:id="rId7"/>
    <p:sldId id="259" r:id="rId8"/>
    <p:sldId id="263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04" autoAdjust="0"/>
  </p:normalViewPr>
  <p:slideViewPr>
    <p:cSldViewPr snapToGrid="0">
      <p:cViewPr varScale="1">
        <p:scale>
          <a:sx n="76" d="100"/>
          <a:sy n="76" d="100"/>
        </p:scale>
        <p:origin x="37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9" d="100"/>
          <a:sy n="79" d="100"/>
        </p:scale>
        <p:origin x="234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989604-6412-4A13-9702-A237875E7EE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2CF092B6-F1D2-44C9-8E8D-C4BDA5377768}">
      <dgm:prSet phldrT="[Text]"/>
      <dgm:spPr/>
      <dgm:t>
        <a:bodyPr/>
        <a:lstStyle/>
        <a:p>
          <a:pPr algn="ctr"/>
          <a:r>
            <a:rPr lang="en-US" altLang="en-US" u="sng" dirty="0"/>
            <a:t>Application Framework</a:t>
          </a:r>
          <a:endParaRPr lang="en-IN" dirty="0"/>
        </a:p>
      </dgm:t>
    </dgm:pt>
    <dgm:pt modelId="{ED02CF8F-D3C3-4D1F-95A0-7FF11A9E7C30}" type="parTrans" cxnId="{28DA6902-4445-41A9-95A6-8B0AB0309AB8}">
      <dgm:prSet/>
      <dgm:spPr/>
      <dgm:t>
        <a:bodyPr/>
        <a:lstStyle/>
        <a:p>
          <a:endParaRPr lang="en-IN"/>
        </a:p>
      </dgm:t>
    </dgm:pt>
    <dgm:pt modelId="{375589B9-1C01-40C7-9670-74D22FCCE910}" type="sibTrans" cxnId="{28DA6902-4445-41A9-95A6-8B0AB0309AB8}">
      <dgm:prSet/>
      <dgm:spPr/>
      <dgm:t>
        <a:bodyPr/>
        <a:lstStyle/>
        <a:p>
          <a:endParaRPr lang="en-IN"/>
        </a:p>
      </dgm:t>
    </dgm:pt>
    <dgm:pt modelId="{0FB7E0D2-FFD0-4999-AF8D-A551A0C46C4E}">
      <dgm:prSet phldrT="[Text]" custT="1"/>
      <dgm:spPr>
        <a:solidFill>
          <a:schemeClr val="bg1">
            <a:lumMod val="85000"/>
            <a:alpha val="40000"/>
          </a:schemeClr>
        </a:solidFill>
      </dgm:spPr>
      <dgm:t>
        <a:bodyPr/>
        <a:lstStyle/>
        <a:p>
          <a:r>
            <a:rPr lang="en-US" altLang="en-US" sz="1900" u="sng" dirty="0" err="1"/>
            <a:t>Streamlit</a:t>
          </a:r>
          <a:r>
            <a:rPr lang="en-US" altLang="en-US" sz="1900" dirty="0"/>
            <a:t>: For rapidly building and deploying interactive web applications for the </a:t>
          </a:r>
          <a:r>
            <a:rPr lang="en-US" altLang="en-US" sz="1900"/>
            <a:t>stress predictor.</a:t>
          </a:r>
          <a:endParaRPr lang="en-IN" sz="1900" dirty="0"/>
        </a:p>
      </dgm:t>
    </dgm:pt>
    <dgm:pt modelId="{766F9D7E-C997-45D0-B96A-11BC7DC2627B}" type="parTrans" cxnId="{0A0A6288-FF41-4C2E-B804-01499622C4C9}">
      <dgm:prSet/>
      <dgm:spPr/>
      <dgm:t>
        <a:bodyPr/>
        <a:lstStyle/>
        <a:p>
          <a:endParaRPr lang="en-IN"/>
        </a:p>
      </dgm:t>
    </dgm:pt>
    <dgm:pt modelId="{202457B7-3ABB-4BAD-B626-1C1E819BF5EC}" type="sibTrans" cxnId="{0A0A6288-FF41-4C2E-B804-01499622C4C9}">
      <dgm:prSet/>
      <dgm:spPr/>
      <dgm:t>
        <a:bodyPr/>
        <a:lstStyle/>
        <a:p>
          <a:endParaRPr lang="en-IN"/>
        </a:p>
      </dgm:t>
    </dgm:pt>
    <dgm:pt modelId="{4B6B36BE-B6A7-4F5F-AA77-EAD6D838CD48}">
      <dgm:prSet phldrT="[Text]"/>
      <dgm:spPr/>
      <dgm:t>
        <a:bodyPr/>
        <a:lstStyle/>
        <a:p>
          <a:pPr algn="ctr">
            <a:buNone/>
          </a:pPr>
          <a:r>
            <a:rPr lang="en-US" altLang="en-US" u="sng" dirty="0"/>
            <a:t>Development Environment</a:t>
          </a:r>
          <a:endParaRPr lang="en-IN" dirty="0"/>
        </a:p>
      </dgm:t>
    </dgm:pt>
    <dgm:pt modelId="{6968CD78-3179-4171-9F4D-8FC6AEF92B6B}" type="parTrans" cxnId="{47E0CBB0-DAD5-40D3-ABC2-D4BF1A8391EB}">
      <dgm:prSet/>
      <dgm:spPr/>
      <dgm:t>
        <a:bodyPr/>
        <a:lstStyle/>
        <a:p>
          <a:endParaRPr lang="en-IN"/>
        </a:p>
      </dgm:t>
    </dgm:pt>
    <dgm:pt modelId="{471A0E20-DB84-49DA-A2BB-439DC6767134}" type="sibTrans" cxnId="{47E0CBB0-DAD5-40D3-ABC2-D4BF1A8391EB}">
      <dgm:prSet/>
      <dgm:spPr/>
      <dgm:t>
        <a:bodyPr/>
        <a:lstStyle/>
        <a:p>
          <a:endParaRPr lang="en-IN"/>
        </a:p>
      </dgm:t>
    </dgm:pt>
    <dgm:pt modelId="{6E0D7C2C-98BE-4571-8774-0CE74F9397A2}">
      <dgm:prSet phldrT="[Text]"/>
      <dgm:spPr>
        <a:solidFill>
          <a:schemeClr val="bg1">
            <a:lumMod val="85000"/>
            <a:alpha val="40000"/>
          </a:schemeClr>
        </a:solidFill>
      </dgm:spPr>
      <dgm:t>
        <a:bodyPr/>
        <a:lstStyle/>
        <a:p>
          <a:r>
            <a:rPr lang="en-US" altLang="en-US" u="sng" dirty="0" err="1"/>
            <a:t>Jupyter</a:t>
          </a:r>
          <a:r>
            <a:rPr lang="en-US" altLang="en-US" u="sng" dirty="0"/>
            <a:t> Notebook</a:t>
          </a:r>
          <a:r>
            <a:rPr lang="en-US" altLang="en-US" dirty="0"/>
            <a:t>: Employed for iterative prototyping, data exploration, and model development workflows.</a:t>
          </a:r>
          <a:endParaRPr lang="en-IN" dirty="0"/>
        </a:p>
      </dgm:t>
    </dgm:pt>
    <dgm:pt modelId="{0C039DC7-EC81-41EC-BB15-D7EAC1E7FFDE}" type="parTrans" cxnId="{5003E3FE-4884-489B-85D1-43473CA26BCD}">
      <dgm:prSet/>
      <dgm:spPr/>
      <dgm:t>
        <a:bodyPr/>
        <a:lstStyle/>
        <a:p>
          <a:endParaRPr lang="en-IN"/>
        </a:p>
      </dgm:t>
    </dgm:pt>
    <dgm:pt modelId="{E50CF6E3-ECBD-4A8E-AAF7-C66ED8A5E574}" type="sibTrans" cxnId="{5003E3FE-4884-489B-85D1-43473CA26BCD}">
      <dgm:prSet/>
      <dgm:spPr/>
      <dgm:t>
        <a:bodyPr/>
        <a:lstStyle/>
        <a:p>
          <a:endParaRPr lang="en-IN"/>
        </a:p>
      </dgm:t>
    </dgm:pt>
    <dgm:pt modelId="{0AB97986-CF5D-4358-9B83-EECEF7C01F3A}">
      <dgm:prSet phldrT="[Text]"/>
      <dgm:spPr/>
      <dgm:t>
        <a:bodyPr/>
        <a:lstStyle/>
        <a:p>
          <a:pPr algn="ctr"/>
          <a:r>
            <a:rPr lang="en-US" altLang="en-US" u="sng" dirty="0"/>
            <a:t>Core Libraries</a:t>
          </a:r>
          <a:endParaRPr lang="en-IN" dirty="0"/>
        </a:p>
      </dgm:t>
    </dgm:pt>
    <dgm:pt modelId="{F6B531F2-BFBE-4D79-A6FF-B14FCCB3C89A}" type="parTrans" cxnId="{F65E9C70-A957-45D7-A8EC-78AC9C811633}">
      <dgm:prSet/>
      <dgm:spPr/>
      <dgm:t>
        <a:bodyPr/>
        <a:lstStyle/>
        <a:p>
          <a:endParaRPr lang="en-IN"/>
        </a:p>
      </dgm:t>
    </dgm:pt>
    <dgm:pt modelId="{C5661308-4A74-4B51-8541-C3DA8A413955}" type="sibTrans" cxnId="{F65E9C70-A957-45D7-A8EC-78AC9C811633}">
      <dgm:prSet/>
      <dgm:spPr/>
      <dgm:t>
        <a:bodyPr/>
        <a:lstStyle/>
        <a:p>
          <a:endParaRPr lang="en-IN"/>
        </a:p>
      </dgm:t>
    </dgm:pt>
    <dgm:pt modelId="{6EECAB43-CD05-421C-BBEF-7059A7F020ED}">
      <dgm:prSet phldrT="[Text]"/>
      <dgm:spPr>
        <a:solidFill>
          <a:schemeClr val="bg1">
            <a:lumMod val="85000"/>
            <a:alpha val="40000"/>
          </a:schemeClr>
        </a:solidFill>
      </dgm:spPr>
      <dgm:t>
        <a:bodyPr/>
        <a:lstStyle/>
        <a:p>
          <a:r>
            <a:rPr lang="en-US" altLang="en-US" u="sng" dirty="0"/>
            <a:t>Scikit-learn</a:t>
          </a:r>
          <a:r>
            <a:rPr lang="en-US" altLang="en-US" dirty="0"/>
            <a:t>: Essential for building, training, and evaluating the machine learning prediction model.</a:t>
          </a:r>
          <a:endParaRPr lang="en-IN" dirty="0"/>
        </a:p>
      </dgm:t>
    </dgm:pt>
    <dgm:pt modelId="{BCD7347E-1E1C-4F27-88D1-05984E7B859D}" type="parTrans" cxnId="{9E7A9A2B-2B1A-40B4-BC78-8A96AA13D3DE}">
      <dgm:prSet/>
      <dgm:spPr/>
      <dgm:t>
        <a:bodyPr/>
        <a:lstStyle/>
        <a:p>
          <a:endParaRPr lang="en-IN"/>
        </a:p>
      </dgm:t>
    </dgm:pt>
    <dgm:pt modelId="{7168FCF1-D464-4C95-A2A9-AE41758434E0}" type="sibTrans" cxnId="{9E7A9A2B-2B1A-40B4-BC78-8A96AA13D3DE}">
      <dgm:prSet/>
      <dgm:spPr/>
      <dgm:t>
        <a:bodyPr/>
        <a:lstStyle/>
        <a:p>
          <a:endParaRPr lang="en-IN"/>
        </a:p>
      </dgm:t>
    </dgm:pt>
    <dgm:pt modelId="{EF097A7D-355C-4993-B616-66390BC6C191}">
      <dgm:prSet/>
      <dgm:spPr>
        <a:solidFill>
          <a:schemeClr val="bg1">
            <a:lumMod val="85000"/>
            <a:alpha val="40000"/>
          </a:schemeClr>
        </a:solidFill>
      </dgm:spPr>
      <dgm:t>
        <a:bodyPr/>
        <a:lstStyle/>
        <a:p>
          <a:r>
            <a:rPr lang="en-US" altLang="en-US" u="sng" dirty="0"/>
            <a:t>Python</a:t>
          </a:r>
          <a:r>
            <a:rPr lang="en-US" altLang="en-US" dirty="0"/>
            <a:t>: The foundational language for data science, machine learning, and application development.</a:t>
          </a:r>
        </a:p>
      </dgm:t>
    </dgm:pt>
    <dgm:pt modelId="{C280D2A6-7E3B-424F-ABCF-57F1DD7FB48C}" type="parTrans" cxnId="{D7D4E730-15DF-4E58-91AA-1AEB4CF70554}">
      <dgm:prSet/>
      <dgm:spPr/>
      <dgm:t>
        <a:bodyPr/>
        <a:lstStyle/>
        <a:p>
          <a:endParaRPr lang="en-IN"/>
        </a:p>
      </dgm:t>
    </dgm:pt>
    <dgm:pt modelId="{2486FC4F-D64A-4263-A7EB-190D90B27099}" type="sibTrans" cxnId="{D7D4E730-15DF-4E58-91AA-1AEB4CF70554}">
      <dgm:prSet/>
      <dgm:spPr/>
      <dgm:t>
        <a:bodyPr/>
        <a:lstStyle/>
        <a:p>
          <a:endParaRPr lang="en-IN"/>
        </a:p>
      </dgm:t>
    </dgm:pt>
    <dgm:pt modelId="{DAD31A2B-9AF2-44B9-B444-BE2327F4596A}">
      <dgm:prSet/>
      <dgm:spPr>
        <a:solidFill>
          <a:schemeClr val="bg1">
            <a:lumMod val="85000"/>
            <a:alpha val="40000"/>
          </a:schemeClr>
        </a:solidFill>
      </dgm:spPr>
      <dgm:t>
        <a:bodyPr/>
        <a:lstStyle/>
        <a:p>
          <a:r>
            <a:rPr lang="en-US" altLang="en-US" u="sng" dirty="0"/>
            <a:t>Pandas</a:t>
          </a:r>
          <a:r>
            <a:rPr lang="en-US" altLang="en-US" dirty="0"/>
            <a:t>: Used for efficient data loading, manipulation, and preprocessing of datasets.</a:t>
          </a:r>
        </a:p>
      </dgm:t>
    </dgm:pt>
    <dgm:pt modelId="{B798743F-0F6A-45CC-9B00-10145B546155}" type="parTrans" cxnId="{F1BCC3B4-BC9D-44A5-886B-461B8CE38C5F}">
      <dgm:prSet/>
      <dgm:spPr/>
      <dgm:t>
        <a:bodyPr/>
        <a:lstStyle/>
        <a:p>
          <a:endParaRPr lang="en-IN"/>
        </a:p>
      </dgm:t>
    </dgm:pt>
    <dgm:pt modelId="{8D62DEF9-6D9B-4D8B-97B8-EDC52C534699}" type="sibTrans" cxnId="{F1BCC3B4-BC9D-44A5-886B-461B8CE38C5F}">
      <dgm:prSet/>
      <dgm:spPr/>
      <dgm:t>
        <a:bodyPr/>
        <a:lstStyle/>
        <a:p>
          <a:endParaRPr lang="en-IN"/>
        </a:p>
      </dgm:t>
    </dgm:pt>
    <dgm:pt modelId="{35C2060E-FD11-4D27-B8B3-7BDE6790FB5A}">
      <dgm:prSet/>
      <dgm:spPr>
        <a:solidFill>
          <a:schemeClr val="bg1">
            <a:lumMod val="85000"/>
            <a:alpha val="40000"/>
          </a:schemeClr>
        </a:solidFill>
      </dgm:spPr>
      <dgm:t>
        <a:bodyPr/>
        <a:lstStyle/>
        <a:p>
          <a:r>
            <a:rPr lang="en-US" altLang="en-US" u="sng" dirty="0"/>
            <a:t>Matplotlib &amp; Seaborn</a:t>
          </a:r>
          <a:r>
            <a:rPr lang="en-US" altLang="en-US" dirty="0"/>
            <a:t>: Powerful libraries for creating insightful data visualizations and exploratory data analysis.</a:t>
          </a:r>
        </a:p>
      </dgm:t>
    </dgm:pt>
    <dgm:pt modelId="{2404324A-3ADC-4048-8305-14E1DF2E0310}" type="parTrans" cxnId="{70E7C1C2-DB34-4109-B6B7-02A311F443FA}">
      <dgm:prSet/>
      <dgm:spPr/>
      <dgm:t>
        <a:bodyPr/>
        <a:lstStyle/>
        <a:p>
          <a:endParaRPr lang="en-IN"/>
        </a:p>
      </dgm:t>
    </dgm:pt>
    <dgm:pt modelId="{BFD2ACAC-CBC8-4250-99D0-7E6FA40907A6}" type="sibTrans" cxnId="{70E7C1C2-DB34-4109-B6B7-02A311F443FA}">
      <dgm:prSet/>
      <dgm:spPr/>
      <dgm:t>
        <a:bodyPr/>
        <a:lstStyle/>
        <a:p>
          <a:endParaRPr lang="en-IN"/>
        </a:p>
      </dgm:t>
    </dgm:pt>
    <dgm:pt modelId="{CFD5F085-4479-475B-81B7-5DC62A6F40F3}" type="pres">
      <dgm:prSet presAssocID="{5A989604-6412-4A13-9702-A237875E7EE7}" presName="linear" presStyleCnt="0">
        <dgm:presLayoutVars>
          <dgm:animLvl val="lvl"/>
          <dgm:resizeHandles val="exact"/>
        </dgm:presLayoutVars>
      </dgm:prSet>
      <dgm:spPr/>
    </dgm:pt>
    <dgm:pt modelId="{954D511A-D156-4DC2-B5AC-BE1249D08C55}" type="pres">
      <dgm:prSet presAssocID="{2CF092B6-F1D2-44C9-8E8D-C4BDA5377768}" presName="parentText" presStyleLbl="node1" presStyleIdx="0" presStyleCnt="3" custLinFactNeighborX="101" custLinFactNeighborY="5398">
        <dgm:presLayoutVars>
          <dgm:chMax val="0"/>
          <dgm:bulletEnabled val="1"/>
        </dgm:presLayoutVars>
      </dgm:prSet>
      <dgm:spPr/>
    </dgm:pt>
    <dgm:pt modelId="{F33F6F29-9246-461A-A8FA-5A89D20C5441}" type="pres">
      <dgm:prSet presAssocID="{2CF092B6-F1D2-44C9-8E8D-C4BDA5377768}" presName="childText" presStyleLbl="revTx" presStyleIdx="0" presStyleCnt="3" custScaleY="93695">
        <dgm:presLayoutVars>
          <dgm:bulletEnabled val="1"/>
        </dgm:presLayoutVars>
      </dgm:prSet>
      <dgm:spPr/>
    </dgm:pt>
    <dgm:pt modelId="{EE43A375-8C61-40D2-8CE7-71362184888E}" type="pres">
      <dgm:prSet presAssocID="{4B6B36BE-B6A7-4F5F-AA77-EAD6D838CD4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208CA52-6DB4-4BCA-BF62-0CEB65DCF991}" type="pres">
      <dgm:prSet presAssocID="{4B6B36BE-B6A7-4F5F-AA77-EAD6D838CD48}" presName="childText" presStyleLbl="revTx" presStyleIdx="1" presStyleCnt="3">
        <dgm:presLayoutVars>
          <dgm:bulletEnabled val="1"/>
        </dgm:presLayoutVars>
      </dgm:prSet>
      <dgm:spPr/>
    </dgm:pt>
    <dgm:pt modelId="{C06CB04B-4E65-47C8-B25B-997819F9693B}" type="pres">
      <dgm:prSet presAssocID="{0AB97986-CF5D-4358-9B83-EECEF7C01F3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3AC3FF6-1A28-406F-BA5D-56479D8ECE02}" type="pres">
      <dgm:prSet presAssocID="{0AB97986-CF5D-4358-9B83-EECEF7C01F3A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28DA6902-4445-41A9-95A6-8B0AB0309AB8}" srcId="{5A989604-6412-4A13-9702-A237875E7EE7}" destId="{2CF092B6-F1D2-44C9-8E8D-C4BDA5377768}" srcOrd="0" destOrd="0" parTransId="{ED02CF8F-D3C3-4D1F-95A0-7FF11A9E7C30}" sibTransId="{375589B9-1C01-40C7-9670-74D22FCCE910}"/>
    <dgm:cxn modelId="{A3B11E0C-5917-43C2-8A5B-43280FAF3186}" type="presOf" srcId="{5A989604-6412-4A13-9702-A237875E7EE7}" destId="{CFD5F085-4479-475B-81B7-5DC62A6F40F3}" srcOrd="0" destOrd="0" presId="urn:microsoft.com/office/officeart/2005/8/layout/vList2"/>
    <dgm:cxn modelId="{8871991D-30DF-469B-8D11-1B13F9BA0896}" type="presOf" srcId="{0AB97986-CF5D-4358-9B83-EECEF7C01F3A}" destId="{C06CB04B-4E65-47C8-B25B-997819F9693B}" srcOrd="0" destOrd="0" presId="urn:microsoft.com/office/officeart/2005/8/layout/vList2"/>
    <dgm:cxn modelId="{9E7A9A2B-2B1A-40B4-BC78-8A96AA13D3DE}" srcId="{0AB97986-CF5D-4358-9B83-EECEF7C01F3A}" destId="{6EECAB43-CD05-421C-BBEF-7059A7F020ED}" srcOrd="0" destOrd="0" parTransId="{BCD7347E-1E1C-4F27-88D1-05984E7B859D}" sibTransId="{7168FCF1-D464-4C95-A2A9-AE41758434E0}"/>
    <dgm:cxn modelId="{D7D4E730-15DF-4E58-91AA-1AEB4CF70554}" srcId="{4B6B36BE-B6A7-4F5F-AA77-EAD6D838CD48}" destId="{EF097A7D-355C-4993-B616-66390BC6C191}" srcOrd="1" destOrd="0" parTransId="{C280D2A6-7E3B-424F-ABCF-57F1DD7FB48C}" sibTransId="{2486FC4F-D64A-4263-A7EB-190D90B27099}"/>
    <dgm:cxn modelId="{04BE575D-3D17-42EB-87A3-62F48378C46B}" type="presOf" srcId="{4B6B36BE-B6A7-4F5F-AA77-EAD6D838CD48}" destId="{EE43A375-8C61-40D2-8CE7-71362184888E}" srcOrd="0" destOrd="0" presId="urn:microsoft.com/office/officeart/2005/8/layout/vList2"/>
    <dgm:cxn modelId="{F13D666D-4B0A-4AF9-8C98-E16F0BAC8AB2}" type="presOf" srcId="{2CF092B6-F1D2-44C9-8E8D-C4BDA5377768}" destId="{954D511A-D156-4DC2-B5AC-BE1249D08C55}" srcOrd="0" destOrd="0" presId="urn:microsoft.com/office/officeart/2005/8/layout/vList2"/>
    <dgm:cxn modelId="{F65E9C70-A957-45D7-A8EC-78AC9C811633}" srcId="{5A989604-6412-4A13-9702-A237875E7EE7}" destId="{0AB97986-CF5D-4358-9B83-EECEF7C01F3A}" srcOrd="2" destOrd="0" parTransId="{F6B531F2-BFBE-4D79-A6FF-B14FCCB3C89A}" sibTransId="{C5661308-4A74-4B51-8541-C3DA8A413955}"/>
    <dgm:cxn modelId="{1425E758-9797-45B9-9125-C6401154B542}" type="presOf" srcId="{EF097A7D-355C-4993-B616-66390BC6C191}" destId="{5208CA52-6DB4-4BCA-BF62-0CEB65DCF991}" srcOrd="0" destOrd="1" presId="urn:microsoft.com/office/officeart/2005/8/layout/vList2"/>
    <dgm:cxn modelId="{0A0A6288-FF41-4C2E-B804-01499622C4C9}" srcId="{2CF092B6-F1D2-44C9-8E8D-C4BDA5377768}" destId="{0FB7E0D2-FFD0-4999-AF8D-A551A0C46C4E}" srcOrd="0" destOrd="0" parTransId="{766F9D7E-C997-45D0-B96A-11BC7DC2627B}" sibTransId="{202457B7-3ABB-4BAD-B626-1C1E819BF5EC}"/>
    <dgm:cxn modelId="{2AEE079B-4450-4E92-BB5F-C24A4C73BE41}" type="presOf" srcId="{DAD31A2B-9AF2-44B9-B444-BE2327F4596A}" destId="{E3AC3FF6-1A28-406F-BA5D-56479D8ECE02}" srcOrd="0" destOrd="1" presId="urn:microsoft.com/office/officeart/2005/8/layout/vList2"/>
    <dgm:cxn modelId="{1115269E-424B-45F5-813A-7D32BBC66D48}" type="presOf" srcId="{0FB7E0D2-FFD0-4999-AF8D-A551A0C46C4E}" destId="{F33F6F29-9246-461A-A8FA-5A89D20C5441}" srcOrd="0" destOrd="0" presId="urn:microsoft.com/office/officeart/2005/8/layout/vList2"/>
    <dgm:cxn modelId="{47E0CBB0-DAD5-40D3-ABC2-D4BF1A8391EB}" srcId="{5A989604-6412-4A13-9702-A237875E7EE7}" destId="{4B6B36BE-B6A7-4F5F-AA77-EAD6D838CD48}" srcOrd="1" destOrd="0" parTransId="{6968CD78-3179-4171-9F4D-8FC6AEF92B6B}" sibTransId="{471A0E20-DB84-49DA-A2BB-439DC6767134}"/>
    <dgm:cxn modelId="{F1BCC3B4-BC9D-44A5-886B-461B8CE38C5F}" srcId="{0AB97986-CF5D-4358-9B83-EECEF7C01F3A}" destId="{DAD31A2B-9AF2-44B9-B444-BE2327F4596A}" srcOrd="1" destOrd="0" parTransId="{B798743F-0F6A-45CC-9B00-10145B546155}" sibTransId="{8D62DEF9-6D9B-4D8B-97B8-EDC52C534699}"/>
    <dgm:cxn modelId="{637D5ABB-F55E-411D-8C0D-7C2CA679B3AE}" type="presOf" srcId="{35C2060E-FD11-4D27-B8B3-7BDE6790FB5A}" destId="{E3AC3FF6-1A28-406F-BA5D-56479D8ECE02}" srcOrd="0" destOrd="2" presId="urn:microsoft.com/office/officeart/2005/8/layout/vList2"/>
    <dgm:cxn modelId="{D6AEB4BD-CE20-4405-8C02-853CD9C48254}" type="presOf" srcId="{6EECAB43-CD05-421C-BBEF-7059A7F020ED}" destId="{E3AC3FF6-1A28-406F-BA5D-56479D8ECE02}" srcOrd="0" destOrd="0" presId="urn:microsoft.com/office/officeart/2005/8/layout/vList2"/>
    <dgm:cxn modelId="{70E7C1C2-DB34-4109-B6B7-02A311F443FA}" srcId="{0AB97986-CF5D-4358-9B83-EECEF7C01F3A}" destId="{35C2060E-FD11-4D27-B8B3-7BDE6790FB5A}" srcOrd="2" destOrd="0" parTransId="{2404324A-3ADC-4048-8305-14E1DF2E0310}" sibTransId="{BFD2ACAC-CBC8-4250-99D0-7E6FA40907A6}"/>
    <dgm:cxn modelId="{01EF8CFB-B95A-424A-9C02-91481786CA46}" type="presOf" srcId="{6E0D7C2C-98BE-4571-8774-0CE74F9397A2}" destId="{5208CA52-6DB4-4BCA-BF62-0CEB65DCF991}" srcOrd="0" destOrd="0" presId="urn:microsoft.com/office/officeart/2005/8/layout/vList2"/>
    <dgm:cxn modelId="{5003E3FE-4884-489B-85D1-43473CA26BCD}" srcId="{4B6B36BE-B6A7-4F5F-AA77-EAD6D838CD48}" destId="{6E0D7C2C-98BE-4571-8774-0CE74F9397A2}" srcOrd="0" destOrd="0" parTransId="{0C039DC7-EC81-41EC-BB15-D7EAC1E7FFDE}" sibTransId="{E50CF6E3-ECBD-4A8E-AAF7-C66ED8A5E574}"/>
    <dgm:cxn modelId="{45529BBD-3E07-414A-9D62-816F70BC2E72}" type="presParOf" srcId="{CFD5F085-4479-475B-81B7-5DC62A6F40F3}" destId="{954D511A-D156-4DC2-B5AC-BE1249D08C55}" srcOrd="0" destOrd="0" presId="urn:microsoft.com/office/officeart/2005/8/layout/vList2"/>
    <dgm:cxn modelId="{6EC67C2D-84E3-46B1-AA43-695A32B75544}" type="presParOf" srcId="{CFD5F085-4479-475B-81B7-5DC62A6F40F3}" destId="{F33F6F29-9246-461A-A8FA-5A89D20C5441}" srcOrd="1" destOrd="0" presId="urn:microsoft.com/office/officeart/2005/8/layout/vList2"/>
    <dgm:cxn modelId="{47A7A6E7-1F1A-43C6-B28F-F31A8CD59693}" type="presParOf" srcId="{CFD5F085-4479-475B-81B7-5DC62A6F40F3}" destId="{EE43A375-8C61-40D2-8CE7-71362184888E}" srcOrd="2" destOrd="0" presId="urn:microsoft.com/office/officeart/2005/8/layout/vList2"/>
    <dgm:cxn modelId="{3455A3BC-2109-4F63-AF80-092C8D820173}" type="presParOf" srcId="{CFD5F085-4479-475B-81B7-5DC62A6F40F3}" destId="{5208CA52-6DB4-4BCA-BF62-0CEB65DCF991}" srcOrd="3" destOrd="0" presId="urn:microsoft.com/office/officeart/2005/8/layout/vList2"/>
    <dgm:cxn modelId="{16320F7F-E092-42C7-9625-8FACA9856440}" type="presParOf" srcId="{CFD5F085-4479-475B-81B7-5DC62A6F40F3}" destId="{C06CB04B-4E65-47C8-B25B-997819F9693B}" srcOrd="4" destOrd="0" presId="urn:microsoft.com/office/officeart/2005/8/layout/vList2"/>
    <dgm:cxn modelId="{D8DADCC5-197E-480B-8EC9-C5F3046D743C}" type="presParOf" srcId="{CFD5F085-4479-475B-81B7-5DC62A6F40F3}" destId="{E3AC3FF6-1A28-406F-BA5D-56479D8ECE02}" srcOrd="5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4D511A-D156-4DC2-B5AC-BE1249D08C55}">
      <dsp:nvSpPr>
        <dsp:cNvPr id="0" name=""/>
        <dsp:cNvSpPr/>
      </dsp:nvSpPr>
      <dsp:spPr>
        <a:xfrm>
          <a:off x="0" y="151812"/>
          <a:ext cx="9689690" cy="5276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u="sng" kern="1200" dirty="0"/>
            <a:t>Application Framework</a:t>
          </a:r>
          <a:endParaRPr lang="en-IN" sz="2100" kern="1200" dirty="0"/>
        </a:p>
      </dsp:txBody>
      <dsp:txXfrm>
        <a:off x="25759" y="177571"/>
        <a:ext cx="9638172" cy="476152"/>
      </dsp:txXfrm>
    </dsp:sp>
    <dsp:sp modelId="{F33F6F29-9246-461A-A8FA-5A89D20C5441}">
      <dsp:nvSpPr>
        <dsp:cNvPr id="0" name=""/>
        <dsp:cNvSpPr/>
      </dsp:nvSpPr>
      <dsp:spPr>
        <a:xfrm>
          <a:off x="0" y="648139"/>
          <a:ext cx="9689690" cy="544025"/>
        </a:xfrm>
        <a:prstGeom prst="rect">
          <a:avLst/>
        </a:prstGeom>
        <a:solidFill>
          <a:schemeClr val="bg1">
            <a:lumMod val="85000"/>
            <a:alpha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7648" tIns="24130" rIns="135128" bIns="2413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1900" u="sng" kern="1200" dirty="0" err="1"/>
            <a:t>Streamlit</a:t>
          </a:r>
          <a:r>
            <a:rPr lang="en-US" altLang="en-US" sz="1900" kern="1200" dirty="0"/>
            <a:t>: For rapidly building and deploying interactive web applications for the </a:t>
          </a:r>
          <a:r>
            <a:rPr lang="en-US" altLang="en-US" sz="1900" kern="1200"/>
            <a:t>stress predictor.</a:t>
          </a:r>
          <a:endParaRPr lang="en-IN" sz="1900" kern="1200" dirty="0"/>
        </a:p>
      </dsp:txBody>
      <dsp:txXfrm>
        <a:off x="0" y="648139"/>
        <a:ext cx="9689690" cy="544025"/>
      </dsp:txXfrm>
    </dsp:sp>
    <dsp:sp modelId="{EE43A375-8C61-40D2-8CE7-71362184888E}">
      <dsp:nvSpPr>
        <dsp:cNvPr id="0" name=""/>
        <dsp:cNvSpPr/>
      </dsp:nvSpPr>
      <dsp:spPr>
        <a:xfrm>
          <a:off x="0" y="1192165"/>
          <a:ext cx="9689690" cy="527670"/>
        </a:xfrm>
        <a:prstGeom prst="roundRect">
          <a:avLst/>
        </a:prstGeom>
        <a:solidFill>
          <a:schemeClr val="accent5">
            <a:hueOff val="-10661560"/>
            <a:satOff val="6060"/>
            <a:lumOff val="-500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u="sng" kern="1200" dirty="0"/>
            <a:t>Development Environment</a:t>
          </a:r>
          <a:endParaRPr lang="en-IN" sz="2100" kern="1200" dirty="0"/>
        </a:p>
      </dsp:txBody>
      <dsp:txXfrm>
        <a:off x="25759" y="1217924"/>
        <a:ext cx="9638172" cy="476152"/>
      </dsp:txXfrm>
    </dsp:sp>
    <dsp:sp modelId="{5208CA52-6DB4-4BCA-BF62-0CEB65DCF991}">
      <dsp:nvSpPr>
        <dsp:cNvPr id="0" name=""/>
        <dsp:cNvSpPr/>
      </dsp:nvSpPr>
      <dsp:spPr>
        <a:xfrm>
          <a:off x="0" y="1719835"/>
          <a:ext cx="9689690" cy="842490"/>
        </a:xfrm>
        <a:prstGeom prst="rect">
          <a:avLst/>
        </a:prstGeom>
        <a:solidFill>
          <a:schemeClr val="bg1">
            <a:lumMod val="85000"/>
            <a:alpha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7648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1600" u="sng" kern="1200" dirty="0" err="1"/>
            <a:t>Jupyter</a:t>
          </a:r>
          <a:r>
            <a:rPr lang="en-US" altLang="en-US" sz="1600" u="sng" kern="1200" dirty="0"/>
            <a:t> Notebook</a:t>
          </a:r>
          <a:r>
            <a:rPr lang="en-US" altLang="en-US" sz="1600" kern="1200" dirty="0"/>
            <a:t>: Employed for iterative prototyping, data exploration, and model development workflows.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1600" u="sng" kern="1200" dirty="0"/>
            <a:t>Python</a:t>
          </a:r>
          <a:r>
            <a:rPr lang="en-US" altLang="en-US" sz="1600" kern="1200" dirty="0"/>
            <a:t>: The foundational language for data science, machine learning, and application development.</a:t>
          </a:r>
        </a:p>
      </dsp:txBody>
      <dsp:txXfrm>
        <a:off x="0" y="1719835"/>
        <a:ext cx="9689690" cy="842490"/>
      </dsp:txXfrm>
    </dsp:sp>
    <dsp:sp modelId="{C06CB04B-4E65-47C8-B25B-997819F9693B}">
      <dsp:nvSpPr>
        <dsp:cNvPr id="0" name=""/>
        <dsp:cNvSpPr/>
      </dsp:nvSpPr>
      <dsp:spPr>
        <a:xfrm>
          <a:off x="0" y="2562325"/>
          <a:ext cx="9689690" cy="527670"/>
        </a:xfrm>
        <a:prstGeom prst="roundRect">
          <a:avLst/>
        </a:prstGeom>
        <a:solidFill>
          <a:schemeClr val="accent5">
            <a:hueOff val="-21323121"/>
            <a:satOff val="12119"/>
            <a:lumOff val="-1000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u="sng" kern="1200" dirty="0"/>
            <a:t>Core Libraries</a:t>
          </a:r>
          <a:endParaRPr lang="en-IN" sz="2100" kern="1200" dirty="0"/>
        </a:p>
      </dsp:txBody>
      <dsp:txXfrm>
        <a:off x="25759" y="2588084"/>
        <a:ext cx="9638172" cy="476152"/>
      </dsp:txXfrm>
    </dsp:sp>
    <dsp:sp modelId="{E3AC3FF6-1A28-406F-BA5D-56479D8ECE02}">
      <dsp:nvSpPr>
        <dsp:cNvPr id="0" name=""/>
        <dsp:cNvSpPr/>
      </dsp:nvSpPr>
      <dsp:spPr>
        <a:xfrm>
          <a:off x="0" y="3089995"/>
          <a:ext cx="9689690" cy="1115730"/>
        </a:xfrm>
        <a:prstGeom prst="rect">
          <a:avLst/>
        </a:prstGeom>
        <a:solidFill>
          <a:schemeClr val="bg1">
            <a:lumMod val="85000"/>
            <a:alpha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7648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1600" u="sng" kern="1200" dirty="0"/>
            <a:t>Scikit-learn</a:t>
          </a:r>
          <a:r>
            <a:rPr lang="en-US" altLang="en-US" sz="1600" kern="1200" dirty="0"/>
            <a:t>: Essential for building, training, and evaluating the machine learning prediction model.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1600" u="sng" kern="1200" dirty="0"/>
            <a:t>Pandas</a:t>
          </a:r>
          <a:r>
            <a:rPr lang="en-US" altLang="en-US" sz="1600" kern="1200" dirty="0"/>
            <a:t>: Used for efficient data loading, manipulation, and preprocessing of datasets.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en-US" sz="1600" u="sng" kern="1200" dirty="0"/>
            <a:t>Matplotlib &amp; Seaborn</a:t>
          </a:r>
          <a:r>
            <a:rPr lang="en-US" altLang="en-US" sz="1600" kern="1200" dirty="0"/>
            <a:t>: Powerful libraries for creating insightful data visualizations and exploratory data analysis.</a:t>
          </a:r>
        </a:p>
      </dsp:txBody>
      <dsp:txXfrm>
        <a:off x="0" y="3089995"/>
        <a:ext cx="9689690" cy="11157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DC2751-278C-4682-9C3F-0FF7B4FCFAE7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286890-466E-41CD-A28A-B1EBDF22CA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2942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FF0845-D09E-4AF9-9623-EA7EA0297EF3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CD11A-EED3-40CE-98A3-28FEE84867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76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160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693A-2307-4FDC-9539-08DC9083DDED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406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0E1C1-C26F-4479-A8BD-144B4C139DA5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943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09738"/>
            <a:ext cx="10515600" cy="2862262"/>
          </a:xfrm>
        </p:spPr>
        <p:txBody>
          <a:bodyPr anchor="b"/>
          <a:lstStyle>
            <a:lvl1pPr>
              <a:lnSpc>
                <a:spcPct val="10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515600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9E61-C2D6-49AB-83F2-8FC9FEFBDAFD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272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825625"/>
            <a:ext cx="489204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baseline="0" noProof="0" dirty="0" smtClean="0">
                <a:solidFill>
                  <a:schemeClr val="bg1"/>
                </a:solidFill>
              </a:defRPr>
            </a:lvl1pPr>
            <a:lvl2pPr>
              <a:defRPr lang="en-US" baseline="0" noProof="0" dirty="0" smtClean="0">
                <a:solidFill>
                  <a:schemeClr val="bg1"/>
                </a:solidFill>
              </a:defRPr>
            </a:lvl2pPr>
            <a:lvl3pPr>
              <a:defRPr lang="en-US" baseline="0" noProof="0" dirty="0" smtClean="0">
                <a:solidFill>
                  <a:schemeClr val="bg1"/>
                </a:solidFill>
              </a:defRPr>
            </a:lvl3pPr>
            <a:lvl4pPr>
              <a:defRPr lang="en-US" baseline="0" noProof="0" dirty="0" smtClean="0">
                <a:solidFill>
                  <a:schemeClr val="bg1"/>
                </a:solidFill>
              </a:defRPr>
            </a:lvl4pPr>
            <a:lvl5pPr>
              <a:defRPr lang="en-US" baseline="0" noProof="0" dirty="0" smtClean="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650524" y="1825625"/>
            <a:ext cx="489204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noProof="0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BE74F-367A-4D3C-8AA7-FA60CCA05EAE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930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39150"/>
            <a:ext cx="10094976" cy="11521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8800"/>
            <a:ext cx="489204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498723"/>
            <a:ext cx="4892040" cy="310197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noProof="0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753" y="1828800"/>
            <a:ext cx="489204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656753" y="2498723"/>
            <a:ext cx="4892040" cy="310197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noProof="0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E3F9C-6465-4987-8E4E-615CFD4753AA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661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9EFD6-3C20-43C6-9E75-1A9D48D9576F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858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93D5A-A484-46EE-9DC8-9A16BFF8327E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605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59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00600" y="987425"/>
            <a:ext cx="5753100" cy="4613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noProof="0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254249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87BC8-78D1-4FEB-9D4F-E22E45CC04F7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721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59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4800600" y="987425"/>
            <a:ext cx="5753100" cy="46132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254249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68210-870C-4A62-9D1B-4B25162550AB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76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11EA7-B10E-4739-92FE-8993461CC0B7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42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91661"/>
            <a:ext cx="2628900" cy="49090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691661"/>
            <a:ext cx="7734300" cy="49090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DC13F-2D2A-49BA-966D-6530A12E7C15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50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inv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39793"/>
            <a:ext cx="10096500" cy="1150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096500" cy="3778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0CABDA2-EB00-4A4D-86B7-63E286A484E5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E5B29C50-D6F1-4DB6-9B68-F4CD3996E9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48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b="1" kern="1200" cap="none" spc="0">
          <a:ln w="12700" cmpd="sng">
            <a:noFill/>
            <a:prstDash val="solid"/>
          </a:ln>
          <a:solidFill>
            <a:schemeClr val="accent4">
              <a:lumMod val="50000"/>
            </a:schemeClr>
          </a:solidFill>
          <a:effectLst>
            <a:outerShdw blurRad="38100" dist="38100" dir="2700000" algn="tl">
              <a:srgbClr val="000000">
                <a:alpha val="43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pos="288" userDrawn="1">
          <p15:clr>
            <a:srgbClr val="F26B43"/>
          </p15:clr>
        </p15:guide>
        <p15:guide id="3" pos="6648" userDrawn="1">
          <p15:clr>
            <a:srgbClr val="F26B43"/>
          </p15:clr>
        </p15:guide>
        <p15:guide id="4" orient="horz" pos="3528" userDrawn="1">
          <p15:clr>
            <a:srgbClr val="F26B43"/>
          </p15:clr>
        </p15:guide>
        <p15:guide id="5" orient="horz" pos="11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9E15C-E5C2-2A17-584F-5A570AC08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17754" y="0"/>
            <a:ext cx="13391535" cy="4669626"/>
          </a:xfrm>
        </p:spPr>
        <p:txBody>
          <a:bodyPr>
            <a:noAutofit/>
          </a:bodyPr>
          <a:lstStyle/>
          <a:p>
            <a:pPr algn="ctr"/>
            <a:br>
              <a:rPr lang="en-US" sz="10000" dirty="0">
                <a:latin typeface="Algerian" panose="04020705040A02060702" pitchFamily="82" charset="0"/>
              </a:rPr>
            </a:br>
            <a:br>
              <a:rPr lang="en-US" sz="10000" dirty="0">
                <a:latin typeface="Algerian" panose="04020705040A02060702" pitchFamily="82" charset="0"/>
              </a:rPr>
            </a:br>
            <a:br>
              <a:rPr lang="en-US" sz="10000" dirty="0">
                <a:latin typeface="Algerian" panose="04020705040A02060702" pitchFamily="82" charset="0"/>
              </a:rPr>
            </a:br>
            <a:r>
              <a:rPr lang="en-US" sz="9000" dirty="0">
                <a:latin typeface="Algerian" panose="04020705040A02060702" pitchFamily="82" charset="0"/>
              </a:rPr>
              <a:t>STRESS ANALYZER</a:t>
            </a:r>
            <a:br>
              <a:rPr lang="en-US" sz="9000" dirty="0">
                <a:latin typeface="Algerian" panose="04020705040A02060702" pitchFamily="82" charset="0"/>
              </a:rPr>
            </a:br>
            <a:br>
              <a:rPr lang="en-US" sz="9000" dirty="0">
                <a:latin typeface="Algerian" panose="04020705040A02060702" pitchFamily="82" charset="0"/>
              </a:rPr>
            </a:br>
            <a:br>
              <a:rPr lang="en-US" sz="9000" dirty="0">
                <a:latin typeface="Algerian" panose="04020705040A02060702" pitchFamily="82" charset="0"/>
              </a:rPr>
            </a:br>
            <a:r>
              <a:rPr lang="en-US" sz="9000" dirty="0">
                <a:latin typeface="Algerian" panose="04020705040A02060702" pitchFamily="82" charset="0"/>
              </a:rPr>
              <a:t> PREDICTOR</a:t>
            </a:r>
            <a:endParaRPr lang="en-IN" sz="9000" dirty="0"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454B56-827E-99D7-0EE5-612CA1FD6E76}"/>
              </a:ext>
            </a:extLst>
          </p:cNvPr>
          <p:cNvSpPr txBox="1"/>
          <p:nvPr/>
        </p:nvSpPr>
        <p:spPr>
          <a:xfrm>
            <a:off x="1494505" y="4531591"/>
            <a:ext cx="8367253" cy="10310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</a:t>
            </a:r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By Ananya Jain (S24CSEU1571) , Ayush Kumar (S24CSEU1572)</a:t>
            </a:r>
            <a:endParaRPr lang="en-IN" sz="2500" dirty="0" err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E76B4F-1A01-5BD4-EA14-5DCCA67C81D1}"/>
              </a:ext>
            </a:extLst>
          </p:cNvPr>
          <p:cNvSpPr txBox="1"/>
          <p:nvPr/>
        </p:nvSpPr>
        <p:spPr>
          <a:xfrm>
            <a:off x="521108" y="4392627"/>
            <a:ext cx="10176387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chemeClr val="accent2">
                    <a:lumMod val="50000"/>
                  </a:schemeClr>
                </a:solidFill>
                <a:latin typeface="Brush Script MT" panose="03060802040406070304" pitchFamily="66" charset="0"/>
              </a:rPr>
              <a:t>“ Your personal check-engine light for well-being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Brush Script MT" panose="03060802040406070304" pitchFamily="66" charset="0"/>
              </a:rPr>
              <a:t>.“</a:t>
            </a:r>
            <a:endParaRPr lang="en-IN" dirty="0" err="1">
              <a:solidFill>
                <a:schemeClr val="accent2">
                  <a:lumMod val="50000"/>
                </a:schemeClr>
              </a:solidFill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166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3883" y="426705"/>
            <a:ext cx="8819536" cy="1655762"/>
          </a:xfrm>
        </p:spPr>
        <p:txBody>
          <a:bodyPr/>
          <a:lstStyle/>
          <a:p>
            <a:r>
              <a:rPr lang="en-US" sz="5500" u="sng" cap="all" dirty="0">
                <a:solidFill>
                  <a:schemeClr val="bg1">
                    <a:lumMod val="85000"/>
                  </a:schemeClr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</a:rPr>
              <a:t>PROBLEM  STATEMENT </a:t>
            </a:r>
            <a:br>
              <a:rPr lang="en-US" cap="all" dirty="0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</a:rPr>
            </a:b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BB9F6ED-9B70-A1D8-E0C6-768FAFFB31F1}"/>
              </a:ext>
            </a:extLst>
          </p:cNvPr>
          <p:cNvSpPr/>
          <p:nvPr/>
        </p:nvSpPr>
        <p:spPr>
          <a:xfrm>
            <a:off x="1189703" y="1810133"/>
            <a:ext cx="10235381" cy="4621162"/>
          </a:xfrm>
          <a:prstGeom prst="roundRect">
            <a:avLst/>
          </a:prstGeom>
          <a:solidFill>
            <a:schemeClr val="bg1">
              <a:lumMod val="75000"/>
              <a:alpha val="3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435BDE-95CF-5321-AA98-E0B359FEDCC1}"/>
              </a:ext>
            </a:extLst>
          </p:cNvPr>
          <p:cNvSpPr txBox="1"/>
          <p:nvPr/>
        </p:nvSpPr>
        <p:spPr>
          <a:xfrm>
            <a:off x="1720646" y="1994724"/>
            <a:ext cx="9281651" cy="452431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+mj-lt"/>
                <a:ea typeface="Calibri" panose="020F0502020204030204" pitchFamily="34" charset="0"/>
                <a:cs typeface="Kartika" panose="020B0502040204020203" pitchFamily="18" charset="0"/>
              </a:rPr>
              <a:t>Chronic stress is a major modern health issue , leading to burnout, anxiety, and physical health complications.</a:t>
            </a:r>
          </a:p>
          <a:p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+mj-lt"/>
                <a:ea typeface="Calibri" panose="020F0502020204030204" pitchFamily="34" charset="0"/>
                <a:cs typeface="Kartika" panose="020B0502040204020203" pitchFamily="18" charset="0"/>
              </a:rPr>
              <a:t>Most people only recognize stress when it's already severe. We lack simple, accessible , and objective tools for </a:t>
            </a:r>
            <a:r>
              <a:rPr lang="en-US" sz="3000" i="1" dirty="0">
                <a:solidFill>
                  <a:schemeClr val="bg1">
                    <a:lumMod val="85000"/>
                  </a:schemeClr>
                </a:solidFill>
                <a:latin typeface="+mj-lt"/>
                <a:ea typeface="Calibri" panose="020F0502020204030204" pitchFamily="34" charset="0"/>
                <a:cs typeface="Kartika" panose="020B0502040204020203" pitchFamily="18" charset="0"/>
              </a:rPr>
              <a:t>early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+mj-lt"/>
                <a:ea typeface="Calibri" panose="020F0502020204030204" pitchFamily="34" charset="0"/>
                <a:cs typeface="Kartika" panose="020B0502040204020203" pitchFamily="18" charset="0"/>
              </a:rPr>
              <a:t> detection.</a:t>
            </a:r>
          </a:p>
          <a:p>
            <a:endParaRPr lang="en-US" sz="3000" dirty="0">
              <a:solidFill>
                <a:schemeClr val="bg1">
                  <a:lumMod val="85000"/>
                </a:schemeClr>
              </a:solidFill>
              <a:latin typeface="+mj-lt"/>
              <a:ea typeface="Calibri" panose="020F0502020204030204" pitchFamily="34" charset="0"/>
              <a:cs typeface="Kartika" panose="020B0502040204020203" pitchFamily="18" charset="0"/>
            </a:endParaRPr>
          </a:p>
          <a:p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+mj-lt"/>
                <a:ea typeface="Calibri" panose="020F0502020204030204" pitchFamily="34" charset="0"/>
                <a:cs typeface="Kartika" panose="020B0502040204020203" pitchFamily="18" charset="0"/>
              </a:rPr>
              <a:t>A proactive system is needed to help individuals monitor their stress levels </a:t>
            </a:r>
            <a:r>
              <a:rPr lang="en-US" sz="3000" i="1" dirty="0">
                <a:solidFill>
                  <a:schemeClr val="bg1">
                    <a:lumMod val="85000"/>
                  </a:schemeClr>
                </a:solidFill>
                <a:latin typeface="+mj-lt"/>
                <a:ea typeface="Calibri" panose="020F0502020204030204" pitchFamily="34" charset="0"/>
                <a:cs typeface="Kartika" panose="020B0502040204020203" pitchFamily="18" charset="0"/>
              </a:rPr>
              <a:t>before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+mj-lt"/>
                <a:ea typeface="Calibri" panose="020F0502020204030204" pitchFamily="34" charset="0"/>
                <a:cs typeface="Kartika" panose="020B0502040204020203" pitchFamily="18" charset="0"/>
              </a:rPr>
              <a:t> they become overwhelming , allowing for timely intervention.</a:t>
            </a:r>
          </a:p>
          <a:p>
            <a:endParaRPr lang="en-IN" dirty="0" err="1"/>
          </a:p>
        </p:txBody>
      </p:sp>
    </p:spTree>
    <p:extLst>
      <p:ext uri="{BB962C8B-B14F-4D97-AF65-F5344CB8AC3E}">
        <p14:creationId xmlns:p14="http://schemas.microsoft.com/office/powerpoint/2010/main" val="1990881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5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SOLUTION 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457200" y="1825625"/>
            <a:ext cx="10741742" cy="3778006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tx1"/>
                </a:solidFill>
              </a:rPr>
              <a:t>We have developed the </a:t>
            </a:r>
            <a:r>
              <a:rPr lang="en-US" sz="3000" b="1" dirty="0">
                <a:solidFill>
                  <a:schemeClr val="tx1"/>
                </a:solidFill>
              </a:rPr>
              <a:t>"Stress Analyzer Predictor,"</a:t>
            </a:r>
            <a:r>
              <a:rPr lang="en-US" sz="3000" dirty="0">
                <a:solidFill>
                  <a:schemeClr val="tx1"/>
                </a:solidFill>
              </a:rPr>
              <a:t> a working model that analyzes key personal inputs.</a:t>
            </a:r>
          </a:p>
          <a:p>
            <a:r>
              <a:rPr lang="en-US" sz="3000" dirty="0">
                <a:solidFill>
                  <a:schemeClr val="tx1"/>
                </a:solidFill>
              </a:rPr>
              <a:t>The system takes user-provided data on lifestyle factors and classifies their current stress level into one of three categories : </a:t>
            </a:r>
            <a:r>
              <a:rPr lang="en-US" sz="3000" b="1" dirty="0">
                <a:solidFill>
                  <a:schemeClr val="tx1"/>
                </a:solidFill>
              </a:rPr>
              <a:t>Low</a:t>
            </a:r>
            <a:r>
              <a:rPr lang="en-US" sz="3000" dirty="0">
                <a:solidFill>
                  <a:schemeClr val="tx1"/>
                </a:solidFill>
              </a:rPr>
              <a:t> , </a:t>
            </a:r>
            <a:r>
              <a:rPr lang="en-US" sz="3000" b="1" dirty="0">
                <a:solidFill>
                  <a:schemeClr val="tx1"/>
                </a:solidFill>
              </a:rPr>
              <a:t>Medium</a:t>
            </a:r>
            <a:r>
              <a:rPr lang="en-US" sz="3000" dirty="0">
                <a:solidFill>
                  <a:schemeClr val="tx1"/>
                </a:solidFill>
              </a:rPr>
              <a:t> , </a:t>
            </a:r>
            <a:r>
              <a:rPr lang="en-US" sz="3000" b="1" dirty="0">
                <a:solidFill>
                  <a:schemeClr val="tx1"/>
                </a:solidFill>
              </a:rPr>
              <a:t>High.</a:t>
            </a:r>
          </a:p>
          <a:p>
            <a:r>
              <a:rPr lang="en-US" sz="3000" dirty="0">
                <a:solidFill>
                  <a:schemeClr val="tx1"/>
                </a:solidFill>
              </a:rPr>
              <a:t>To provide an </a:t>
            </a:r>
            <a:r>
              <a:rPr lang="en-US" sz="3000" b="1" dirty="0">
                <a:solidFill>
                  <a:schemeClr val="tx1"/>
                </a:solidFill>
              </a:rPr>
              <a:t>easy-to-use, data-driven "check engine light" for mental well-being, empowering users </a:t>
            </a:r>
            <a:r>
              <a:rPr lang="en-US" sz="3000" dirty="0">
                <a:solidFill>
                  <a:schemeClr val="tx1"/>
                </a:solidFill>
              </a:rPr>
              <a:t>to make informed decisions about their health.</a:t>
            </a:r>
          </a:p>
        </p:txBody>
      </p:sp>
    </p:spTree>
    <p:extLst>
      <p:ext uri="{BB962C8B-B14F-4D97-AF65-F5344CB8AC3E}">
        <p14:creationId xmlns:p14="http://schemas.microsoft.com/office/powerpoint/2010/main" val="56685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635" y="522318"/>
            <a:ext cx="10096500" cy="1150907"/>
          </a:xfrm>
        </p:spPr>
        <p:txBody>
          <a:bodyPr anchor="ctr">
            <a:normAutofit/>
          </a:bodyPr>
          <a:lstStyle/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5000" u="sng" dirty="0"/>
              <a:t>KEY FEATURES 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F41496-92AD-07C8-C3D8-353A26CBAE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5864" y="1405731"/>
            <a:ext cx="6967902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1900" b="1" dirty="0"/>
          </a:p>
          <a:p>
            <a:r>
              <a:rPr lang="en-US" sz="2500" b="1" u="sng" dirty="0">
                <a:solidFill>
                  <a:schemeClr val="tx1"/>
                </a:solidFill>
              </a:rPr>
              <a:t>Multi-Factor Analysis</a:t>
            </a:r>
            <a:r>
              <a:rPr lang="en-US" sz="2500" b="1" dirty="0">
                <a:solidFill>
                  <a:schemeClr val="tx1"/>
                </a:solidFill>
              </a:rPr>
              <a:t>:</a:t>
            </a:r>
            <a:r>
              <a:rPr lang="en-US" sz="2500" dirty="0">
                <a:solidFill>
                  <a:schemeClr val="tx1"/>
                </a:solidFill>
              </a:rPr>
              <a:t> The model uses a holistic approach, analyzing a combination of features (e.g., sleep, workload, activity) for a more accurate prediction.</a:t>
            </a:r>
          </a:p>
          <a:p>
            <a:r>
              <a:rPr lang="en-US" sz="2500" b="1" u="sng" dirty="0">
                <a:solidFill>
                  <a:schemeClr val="tx1"/>
                </a:solidFill>
              </a:rPr>
              <a:t>Instant Classification</a:t>
            </a:r>
            <a:r>
              <a:rPr lang="en-US" sz="2500" b="1" dirty="0">
                <a:solidFill>
                  <a:schemeClr val="tx1"/>
                </a:solidFill>
              </a:rPr>
              <a:t>:</a:t>
            </a:r>
            <a:r>
              <a:rPr lang="en-US" sz="2500" dirty="0">
                <a:solidFill>
                  <a:schemeClr val="tx1"/>
                </a:solidFill>
              </a:rPr>
              <a:t> Delivers a real-time prediction, providing immediate feedback to the user.</a:t>
            </a:r>
          </a:p>
          <a:p>
            <a:r>
              <a:rPr lang="en-US" sz="2500" b="1" u="sng" dirty="0">
                <a:solidFill>
                  <a:schemeClr val="tx1"/>
                </a:solidFill>
              </a:rPr>
              <a:t>Simple Interface</a:t>
            </a:r>
            <a:r>
              <a:rPr lang="en-US" sz="2500" b="1" dirty="0">
                <a:solidFill>
                  <a:schemeClr val="tx1"/>
                </a:solidFill>
              </a:rPr>
              <a:t>:</a:t>
            </a:r>
            <a:r>
              <a:rPr lang="en-US" sz="2500" dirty="0">
                <a:solidFill>
                  <a:schemeClr val="tx1"/>
                </a:solidFill>
              </a:rPr>
              <a:t> Designed for accessibility. Users can easily input their data and understand the clear,-categorical output.</a:t>
            </a:r>
          </a:p>
          <a:p>
            <a:r>
              <a:rPr lang="en-US" sz="2500" b="1" u="sng" dirty="0">
                <a:solidFill>
                  <a:schemeClr val="tx1"/>
                </a:solidFill>
              </a:rPr>
              <a:t>Data-Driven</a:t>
            </a:r>
            <a:r>
              <a:rPr lang="en-US" sz="2500" b="1" dirty="0">
                <a:solidFill>
                  <a:schemeClr val="tx1"/>
                </a:solidFill>
              </a:rPr>
              <a:t>:</a:t>
            </a:r>
            <a:r>
              <a:rPr lang="en-US" sz="2500" dirty="0">
                <a:solidFill>
                  <a:schemeClr val="tx1"/>
                </a:solidFill>
              </a:rPr>
              <a:t> The prediction is not a guess; it's based on a machine learning model trained on a dataset to recognize patterns associated with stress.</a:t>
            </a:r>
          </a:p>
          <a:p>
            <a:endParaRPr lang="en-IN" sz="1900" dirty="0"/>
          </a:p>
        </p:txBody>
      </p:sp>
      <p:sp>
        <p:nvSpPr>
          <p:cNvPr id="5" name="AutoShape 2" descr="Image of ">
            <a:extLst>
              <a:ext uri="{FF2B5EF4-FFF2-40B4-BE49-F238E27FC236}">
                <a16:creationId xmlns:a16="http://schemas.microsoft.com/office/drawing/2014/main" id="{AAEE3B1B-1025-F8F1-AE8B-223806B082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mage of ">
            <a:extLst>
              <a:ext uri="{FF2B5EF4-FFF2-40B4-BE49-F238E27FC236}">
                <a16:creationId xmlns:a16="http://schemas.microsoft.com/office/drawing/2014/main" id="{EC5C28CF-C02F-FE8A-0E95-CD20CA0A73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617136"/>
            <a:ext cx="3116664" cy="3116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6" descr="Image of ">
            <a:extLst>
              <a:ext uri="{FF2B5EF4-FFF2-40B4-BE49-F238E27FC236}">
                <a16:creationId xmlns:a16="http://schemas.microsoft.com/office/drawing/2014/main" id="{E847F465-9AFD-893B-258C-9B4AD91BDF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769536"/>
            <a:ext cx="3116664" cy="3116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E14CE3-58FF-DDE8-41DA-4E6DFEB258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08" r="8869"/>
          <a:stretch>
            <a:fillRect/>
          </a:stretch>
        </p:blipFill>
        <p:spPr>
          <a:xfrm>
            <a:off x="7516166" y="974691"/>
            <a:ext cx="3516923" cy="40553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54372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5D545-A4B5-7541-CDD3-9705E6013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355" y="403819"/>
            <a:ext cx="10096500" cy="1150907"/>
          </a:xfrm>
        </p:spPr>
        <p:txBody>
          <a:bodyPr/>
          <a:lstStyle/>
          <a:p>
            <a:pPr algn="ctr"/>
            <a:r>
              <a:rPr lang="en-US" u="sng" dirty="0"/>
              <a:t>TECHNOLOGIES USED:</a:t>
            </a:r>
            <a:endParaRPr lang="en-IN" u="sng" dirty="0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FBCD6761-60DB-B4E3-B9DC-1E12B0F7F3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8454510"/>
              </p:ext>
            </p:extLst>
          </p:nvPr>
        </p:nvGraphicFramePr>
        <p:xfrm>
          <a:off x="1090153" y="1364224"/>
          <a:ext cx="9689690" cy="4326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2261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65B70D3-E85D-2E56-6999-1CBA034AC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35178" y="468218"/>
            <a:ext cx="10096500" cy="1150907"/>
          </a:xfrm>
        </p:spPr>
        <p:txBody>
          <a:bodyPr>
            <a:normAutofit/>
          </a:bodyPr>
          <a:lstStyle/>
          <a:p>
            <a:pPr algn="ctr"/>
            <a:r>
              <a:rPr lang="en-US" sz="5000" u="sng" dirty="0"/>
              <a:t>FINAL WORKING PROJECT </a:t>
            </a:r>
            <a:endParaRPr lang="en-IN" sz="5000" u="sng" dirty="0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39A1954A-47A7-2917-6273-6E48E54AA3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9541E0-999D-B381-38BC-072A9CA032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454" r="40341"/>
          <a:stretch>
            <a:fillRect/>
          </a:stretch>
        </p:blipFill>
        <p:spPr>
          <a:xfrm>
            <a:off x="1141101" y="4879577"/>
            <a:ext cx="6776772" cy="11509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Arrow: U-Turn 12">
            <a:extLst>
              <a:ext uri="{FF2B5EF4-FFF2-40B4-BE49-F238E27FC236}">
                <a16:creationId xmlns:a16="http://schemas.microsoft.com/office/drawing/2014/main" id="{338D8552-0123-1CBA-249C-44C5340A73CC}"/>
              </a:ext>
            </a:extLst>
          </p:cNvPr>
          <p:cNvSpPr/>
          <p:nvPr/>
        </p:nvSpPr>
        <p:spPr>
          <a:xfrm>
            <a:off x="4374574" y="1449169"/>
            <a:ext cx="4040163" cy="257879"/>
          </a:xfrm>
          <a:prstGeom prst="uturnArrow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Arrow: Left-Up 16">
            <a:extLst>
              <a:ext uri="{FF2B5EF4-FFF2-40B4-BE49-F238E27FC236}">
                <a16:creationId xmlns:a16="http://schemas.microsoft.com/office/drawing/2014/main" id="{C4A15CA3-6E17-83BB-D01A-CE460403B2E6}"/>
              </a:ext>
            </a:extLst>
          </p:cNvPr>
          <p:cNvSpPr/>
          <p:nvPr/>
        </p:nvSpPr>
        <p:spPr>
          <a:xfrm>
            <a:off x="7917873" y="4635985"/>
            <a:ext cx="1808018" cy="694551"/>
          </a:xfrm>
          <a:prstGeom prst="leftUpArrow">
            <a:avLst>
              <a:gd name="adj1" fmla="val 10040"/>
              <a:gd name="adj2" fmla="val 25000"/>
              <a:gd name="adj3" fmla="val 2500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3264A5-8C4E-C5EA-50D9-1D95CCFF6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655" y="1687720"/>
            <a:ext cx="5445418" cy="2914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D049DD-82EA-751A-CCFC-B145FD83BE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27" y="1769987"/>
            <a:ext cx="5516310" cy="29421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2568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C0F46-4DBE-11A4-E2C6-2E69D7EB1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 u="sng" dirty="0"/>
              <a:t>CONCLUSION</a:t>
            </a:r>
            <a:r>
              <a:rPr lang="en-US" dirty="0"/>
              <a:t>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8C431-9389-CAF4-1B60-F5791D86D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5625"/>
            <a:ext cx="11194026" cy="3778006"/>
          </a:xfrm>
        </p:spPr>
        <p:txBody>
          <a:bodyPr>
            <a:normAutofit fontScale="85000" lnSpcReduction="10000"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We successfully built a </a:t>
            </a:r>
            <a:r>
              <a:rPr lang="en-US" sz="4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working model</a:t>
            </a:r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 that can effectively predict stress levels based on user-provided data.</a:t>
            </a:r>
          </a:p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The "Stress Analyzer Predictor" serves as a crucial first step in creating accessible tools for mental health awareness.</a:t>
            </a:r>
          </a:p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This project has strong potential to evolve from a predictive model into a comprehensive personal wellness assistant.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1035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059607-8174-2E97-F72E-2BCE7AD41A96}"/>
              </a:ext>
            </a:extLst>
          </p:cNvPr>
          <p:cNvSpPr txBox="1"/>
          <p:nvPr/>
        </p:nvSpPr>
        <p:spPr>
          <a:xfrm>
            <a:off x="623455" y="1982293"/>
            <a:ext cx="10744200" cy="240065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000" dirty="0">
                <a:solidFill>
                  <a:schemeClr val="accent2">
                    <a:lumMod val="50000"/>
                  </a:schemeClr>
                </a:solidFill>
              </a:rPr>
              <a:t>THANK YOU !</a:t>
            </a:r>
            <a:endParaRPr lang="en-IN" sz="15000" dirty="0" err="1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9788723"/>
      </p:ext>
    </p:extLst>
  </p:cSld>
  <p:clrMapOvr>
    <a:masterClrMapping/>
  </p:clrMapOvr>
</p:sld>
</file>

<file path=ppt/theme/theme1.xml><?xml version="1.0" encoding="utf-8"?>
<a:theme xmlns:a="http://schemas.openxmlformats.org/drawingml/2006/main" name="Vertical Lexicon design templat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 dirty="0"/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  <a:ln>
          <a:solidFill>
            <a:schemeClr val="tx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ertical lexicon design slides.potx" id="{49C7086D-B6BF-42C9-B2E9-7A6F5A963EAA}" vid="{839E83B1-FF0C-49E8-8563-59D864F05AE3}"/>
    </a:ext>
  </a:extLst>
</a:theme>
</file>

<file path=ppt/theme/theme2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4BEBB951-DE64-4CB8-9E1C-184A357AD7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EEE0F9-7BC9-4998-8617-7CC115AD97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1BD8E5-A18E-435C-B431-90A6B59F4B6F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40262f94-9f35-4ac3-9a90-690165a166b7"/>
    <ds:schemaRef ds:uri="a4f35948-e619-41b3-aa29-22878b09cfd2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413</TotalTime>
  <Words>436</Words>
  <Application>Microsoft Office PowerPoint</Application>
  <PresentationFormat>Widescreen</PresentationFormat>
  <Paragraphs>37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Algerian</vt:lpstr>
      <vt:lpstr>Arial</vt:lpstr>
      <vt:lpstr>Brush Script MT</vt:lpstr>
      <vt:lpstr>Calibri</vt:lpstr>
      <vt:lpstr>Cambria Math</vt:lpstr>
      <vt:lpstr>Wingdings</vt:lpstr>
      <vt:lpstr>Vertical Lexicon design template</vt:lpstr>
      <vt:lpstr>   STRESS ANALYZER    PREDICTOR</vt:lpstr>
      <vt:lpstr>PROBLEM  STATEMENT  </vt:lpstr>
      <vt:lpstr>PROBLEM SOLUTION </vt:lpstr>
      <vt:lpstr>KEY FEATURES :</vt:lpstr>
      <vt:lpstr>TECHNOLOGIES USED:</vt:lpstr>
      <vt:lpstr>FINAL WORKING PROJECT </vt:lpstr>
      <vt:lpstr>CONCLUSION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ananya jain</dc:creator>
  <cp:lastModifiedBy>Ayush Kumar</cp:lastModifiedBy>
  <cp:revision>4</cp:revision>
  <dcterms:created xsi:type="dcterms:W3CDTF">2025-11-16T08:36:26Z</dcterms:created>
  <dcterms:modified xsi:type="dcterms:W3CDTF">2025-11-18T07:58:16Z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74067900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